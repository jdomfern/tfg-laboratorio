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</p:sldIdLst>
  <p:sldSz cx="18288000" cy="10287000"/>
  <p:notesSz cx="6858000" cy="9144000"/>
  <p:embeddedFontLst>
    <p:embeddedFont>
      <p:font typeface="Calibri" pitchFamily="34" charset="0"/>
      <p:regular r:id="rId15"/>
      <p:bold r:id="rId16"/>
      <p:italic r:id="rId17"/>
      <p:boldItalic r:id="rId18"/>
    </p:embeddedFont>
    <p:embeddedFont>
      <p:font typeface="Montserrat Ultra-Bold" charset="0"/>
      <p:regular r:id="rId19"/>
    </p:embeddedFont>
    <p:embeddedFont>
      <p:font typeface="Canva Sans" charset="0"/>
      <p:regular r:id="rId20"/>
    </p:embeddedFont>
    <p:embeddedFont>
      <p:font typeface="Montserrat Bold Italics" charset="0"/>
      <p:regular r:id="rId21"/>
    </p:embeddedFont>
    <p:embeddedFont>
      <p:font typeface="Montserrat Bold" charset="0"/>
      <p:regular r:id="rId22"/>
    </p:embeddedFont>
    <p:embeddedFont>
      <p:font typeface="Canva Sans Bold" charset="0"/>
      <p:regular r:id="rId23"/>
    </p:embeddedFont>
    <p:embeddedFont>
      <p:font typeface="Open Sans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4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tfg-laboratorio-production.up.railway.app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10559" y="-1374453"/>
            <a:ext cx="1363016" cy="6894949"/>
            <a:chOff x="0" y="0"/>
            <a:chExt cx="358984" cy="1815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212898" y="4236286"/>
            <a:ext cx="555689" cy="875021"/>
          </a:xfrm>
          <a:custGeom>
            <a:avLst/>
            <a:gdLst/>
            <a:ahLst/>
            <a:cxnLst/>
            <a:rect l="l" t="t" r="r" b="b"/>
            <a:pathLst>
              <a:path w="555689" h="875021">
                <a:moveTo>
                  <a:pt x="0" y="0"/>
                </a:moveTo>
                <a:lnTo>
                  <a:pt x="555689" y="0"/>
                </a:lnTo>
                <a:lnTo>
                  <a:pt x="555689" y="875021"/>
                </a:lnTo>
                <a:lnTo>
                  <a:pt x="0" y="87502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64337" y="1208922"/>
            <a:ext cx="11508835" cy="3662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9805"/>
              </a:lnSpc>
            </a:pPr>
            <a:r>
              <a:rPr lang="en-US" sz="658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Aplicación web para la gestión de un laboratorio de muestras de agua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334316" y="6570485"/>
            <a:ext cx="1363016" cy="4524008"/>
            <a:chOff x="0" y="0"/>
            <a:chExt cx="358984" cy="11915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984" cy="1191508"/>
            </a:xfrm>
            <a:custGeom>
              <a:avLst/>
              <a:gdLst/>
              <a:ahLst/>
              <a:cxnLst/>
              <a:rect l="l" t="t" r="r" b="b"/>
              <a:pathLst>
                <a:path w="358984" h="119150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064337" y="6956895"/>
            <a:ext cx="9707442" cy="1369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42"/>
              </a:lnSpc>
              <a:spcBef>
                <a:spcPct val="0"/>
              </a:spcBef>
            </a:pPr>
            <a:r>
              <a:rPr lang="en-US" sz="195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Jorge Domínguez Fernández</a:t>
            </a:r>
          </a:p>
          <a:p>
            <a:pPr marL="0" lvl="0" indent="0" algn="just">
              <a:lnSpc>
                <a:spcPts val="2742"/>
              </a:lnSpc>
              <a:spcBef>
                <a:spcPct val="0"/>
              </a:spcBef>
            </a:pPr>
            <a:endParaRPr/>
          </a:p>
          <a:p>
            <a:pPr marL="0" lvl="0" indent="0" algn="just">
              <a:lnSpc>
                <a:spcPts val="2742"/>
              </a:lnSpc>
              <a:spcBef>
                <a:spcPct val="0"/>
              </a:spcBef>
            </a:pPr>
            <a:r>
              <a:rPr lang="en-US" sz="195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Mayo 2026</a:t>
            </a:r>
          </a:p>
          <a:p>
            <a:pPr marL="0" lvl="0" indent="0" algn="just">
              <a:lnSpc>
                <a:spcPts val="2742"/>
              </a:lnSpc>
              <a:spcBef>
                <a:spcPct val="0"/>
              </a:spcBef>
            </a:pPr>
            <a:r>
              <a:rPr lang="en-US" sz="195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IES Punta del Verde</a:t>
            </a:r>
          </a:p>
        </p:txBody>
      </p:sp>
      <p:sp>
        <p:nvSpPr>
          <p:cNvPr id="11" name="Freeform 11"/>
          <p:cNvSpPr/>
          <p:nvPr/>
        </p:nvSpPr>
        <p:spPr>
          <a:xfrm>
            <a:off x="2202961" y="8757571"/>
            <a:ext cx="377238" cy="563326"/>
          </a:xfrm>
          <a:custGeom>
            <a:avLst/>
            <a:gdLst/>
            <a:ahLst/>
            <a:cxnLst/>
            <a:rect l="l" t="t" r="r" b="b"/>
            <a:pathLst>
              <a:path w="377238" h="563326">
                <a:moveTo>
                  <a:pt x="0" y="0"/>
                </a:moveTo>
                <a:lnTo>
                  <a:pt x="377238" y="0"/>
                </a:lnTo>
                <a:lnTo>
                  <a:pt x="377238" y="563326"/>
                </a:lnTo>
                <a:lnTo>
                  <a:pt x="0" y="563326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194076" y="8860358"/>
            <a:ext cx="404808" cy="449083"/>
          </a:xfrm>
          <a:custGeom>
            <a:avLst/>
            <a:gdLst/>
            <a:ahLst/>
            <a:cxnLst/>
            <a:rect l="l" t="t" r="r" b="b"/>
            <a:pathLst>
              <a:path w="404808" h="449083">
                <a:moveTo>
                  <a:pt x="0" y="0"/>
                </a:moveTo>
                <a:lnTo>
                  <a:pt x="404808" y="0"/>
                </a:lnTo>
                <a:lnTo>
                  <a:pt x="404808" y="449084"/>
                </a:lnTo>
                <a:lnTo>
                  <a:pt x="0" y="449084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130332" y="8892272"/>
            <a:ext cx="550328" cy="378422"/>
          </a:xfrm>
          <a:custGeom>
            <a:avLst/>
            <a:gdLst/>
            <a:ahLst/>
            <a:cxnLst/>
            <a:rect l="l" t="t" r="r" b="b"/>
            <a:pathLst>
              <a:path w="550328" h="378422">
                <a:moveTo>
                  <a:pt x="0" y="0"/>
                </a:moveTo>
                <a:lnTo>
                  <a:pt x="550327" y="0"/>
                </a:lnTo>
                <a:lnTo>
                  <a:pt x="550327" y="378422"/>
                </a:lnTo>
                <a:lnTo>
                  <a:pt x="0" y="378422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print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10559" y="-1374453"/>
            <a:ext cx="1363016" cy="6894949"/>
            <a:chOff x="0" y="0"/>
            <a:chExt cx="358984" cy="18159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3861" y="4330791"/>
            <a:ext cx="856411" cy="856411"/>
          </a:xfrm>
          <a:custGeom>
            <a:avLst/>
            <a:gdLst/>
            <a:ahLst/>
            <a:cxnLst/>
            <a:rect l="l" t="t" r="r" b="b"/>
            <a:pathLst>
              <a:path w="856411" h="856411">
                <a:moveTo>
                  <a:pt x="0" y="0"/>
                </a:moveTo>
                <a:lnTo>
                  <a:pt x="856411" y="0"/>
                </a:lnTo>
                <a:lnTo>
                  <a:pt x="856411" y="856411"/>
                </a:lnTo>
                <a:lnTo>
                  <a:pt x="0" y="85641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85007" y="1987297"/>
            <a:ext cx="11292542" cy="105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19"/>
              </a:lnSpc>
            </a:pPr>
            <a:r>
              <a:rPr lang="en-US" sz="7999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Introducción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8758" y="6456067"/>
            <a:ext cx="11452375" cy="249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Aplicación web para digitalizar el registro, validación y análisis de parámetros de calidad del agua en entornos de trabajo de campo.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endParaRPr/>
          </a:p>
          <a:p>
            <a:pPr marL="517792" lvl="1" indent="-258896" algn="just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Centraliza todos los datos generados en los distintos proyectos, reduciendo errores manuales y agilizando el  laboratorio.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16187291" y="9612001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06492" y="6091025"/>
            <a:ext cx="1363016" cy="2392212"/>
            <a:chOff x="0" y="0"/>
            <a:chExt cx="358984" cy="63004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671983" y="2366785"/>
            <a:ext cx="1363016" cy="2392212"/>
            <a:chOff x="0" y="0"/>
            <a:chExt cx="358984" cy="6300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85007" y="3688058"/>
            <a:ext cx="11496126" cy="249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7"/>
              </a:lnSpc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Sector de laboratorios de muestras de agua: características de negocio.</a:t>
            </a:r>
          </a:p>
          <a:p>
            <a:pPr algn="just">
              <a:lnSpc>
                <a:spcPts val="3357"/>
              </a:lnSpc>
            </a:pPr>
            <a:endParaRPr/>
          </a:p>
          <a:p>
            <a:pPr marL="517792" lvl="1" indent="-258896" algn="just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Uso de papel para anotación de parámetros.</a:t>
            </a:r>
          </a:p>
          <a:p>
            <a:pPr marL="517792" lvl="1" indent="-258896" algn="just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Registro de datos posterior en sistemas internos (doble trabajo).</a:t>
            </a:r>
          </a:p>
          <a:p>
            <a:pPr marL="517792" lvl="1" indent="-258896" algn="just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Aplicaciones auxiliares a criterio de cada técnico.</a:t>
            </a:r>
          </a:p>
          <a:p>
            <a:pPr marL="0" lvl="0" indent="0" algn="just">
              <a:lnSpc>
                <a:spcPts val="3357"/>
              </a:lnSpc>
              <a:spcBef>
                <a:spcPct val="0"/>
              </a:spcBef>
            </a:pPr>
            <a:r>
              <a:rPr lang="en-US" sz="239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59300" y="-931679"/>
            <a:ext cx="1363016" cy="4524008"/>
            <a:chOff x="0" y="0"/>
            <a:chExt cx="358984" cy="11915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8984" cy="1191508"/>
            </a:xfrm>
            <a:custGeom>
              <a:avLst/>
              <a:gdLst/>
              <a:ahLst/>
              <a:cxnLst/>
              <a:rect l="l" t="t" r="r" b="b"/>
              <a:pathLst>
                <a:path w="358984" h="119150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981770"/>
            <a:ext cx="1078199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Objetivos del Proyecto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8729" y="3759534"/>
            <a:ext cx="10549184" cy="2635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50"/>
              </a:lnSpc>
            </a:pPr>
            <a:r>
              <a:rPr lang="en-US" sz="25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• Digitalizar el proceso de gestión de muestras de agua</a:t>
            </a:r>
          </a:p>
          <a:p>
            <a:pPr marL="0" lvl="0" indent="0" algn="l">
              <a:lnSpc>
                <a:spcPts val="5350"/>
              </a:lnSpc>
            </a:pPr>
            <a:r>
              <a:rPr lang="en-US" sz="25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• Facilitar la consulta y control de datos en tiempo real</a:t>
            </a:r>
          </a:p>
          <a:p>
            <a:pPr marL="0" lvl="0" indent="0" algn="l">
              <a:lnSpc>
                <a:spcPts val="5350"/>
              </a:lnSpc>
            </a:pPr>
            <a:r>
              <a:rPr lang="en-US" sz="25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• Permitir registrar parámetros de muestras en zonas sin cobertura.</a:t>
            </a:r>
          </a:p>
          <a:p>
            <a:pPr marL="0" lvl="0" indent="0" algn="l">
              <a:lnSpc>
                <a:spcPts val="5350"/>
              </a:lnSpc>
            </a:pPr>
            <a:r>
              <a:rPr lang="en-US" sz="25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• Visualización gráfica de resultados para posterior análisis </a:t>
            </a:r>
          </a:p>
        </p:txBody>
      </p:sp>
      <p:grpSp>
        <p:nvGrpSpPr>
          <p:cNvPr id="7" name="Group 7"/>
          <p:cNvGrpSpPr/>
          <p:nvPr/>
        </p:nvGrpSpPr>
        <p:grpSpPr>
          <a:xfrm rot="5400000">
            <a:off x="14856885" y="4977956"/>
            <a:ext cx="1363016" cy="6894949"/>
            <a:chOff x="0" y="0"/>
            <a:chExt cx="358984" cy="18159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5400000">
            <a:off x="12607913" y="7997225"/>
            <a:ext cx="856411" cy="856411"/>
          </a:xfrm>
          <a:custGeom>
            <a:avLst/>
            <a:gdLst/>
            <a:ahLst/>
            <a:cxnLst/>
            <a:rect l="l" t="t" r="r" b="b"/>
            <a:pathLst>
              <a:path w="856411" h="856411">
                <a:moveTo>
                  <a:pt x="0" y="0"/>
                </a:moveTo>
                <a:lnTo>
                  <a:pt x="856411" y="0"/>
                </a:lnTo>
                <a:lnTo>
                  <a:pt x="856411" y="856411"/>
                </a:lnTo>
                <a:lnTo>
                  <a:pt x="0" y="85641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3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89711"/>
            <a:ext cx="14779844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Arquitectura: Cliente-Servidor y MVC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246862" y="-2667310"/>
            <a:ext cx="1050538" cy="5314246"/>
            <a:chOff x="0" y="0"/>
            <a:chExt cx="358984" cy="181595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442094" y="1729977"/>
            <a:ext cx="660074" cy="660074"/>
          </a:xfrm>
          <a:custGeom>
            <a:avLst/>
            <a:gdLst/>
            <a:ahLst/>
            <a:cxnLst/>
            <a:rect l="l" t="t" r="r" b="b"/>
            <a:pathLst>
              <a:path w="660074" h="660074">
                <a:moveTo>
                  <a:pt x="0" y="0"/>
                </a:moveTo>
                <a:lnTo>
                  <a:pt x="660074" y="0"/>
                </a:lnTo>
                <a:lnTo>
                  <a:pt x="660074" y="660074"/>
                </a:lnTo>
                <a:lnTo>
                  <a:pt x="0" y="66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549342" y="5899174"/>
            <a:ext cx="1363016" cy="2392212"/>
            <a:chOff x="0" y="0"/>
            <a:chExt cx="358984" cy="6300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334316" y="8409046"/>
            <a:ext cx="1363016" cy="2392212"/>
            <a:chOff x="0" y="0"/>
            <a:chExt cx="358984" cy="6300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4</a:t>
            </a:r>
          </a:p>
        </p:txBody>
      </p:sp>
      <p:sp>
        <p:nvSpPr>
          <p:cNvPr id="15" name="Freeform 15"/>
          <p:cNvSpPr/>
          <p:nvPr/>
        </p:nvSpPr>
        <p:spPr>
          <a:xfrm>
            <a:off x="5409024" y="3014336"/>
            <a:ext cx="7469952" cy="7469952"/>
          </a:xfrm>
          <a:custGeom>
            <a:avLst/>
            <a:gdLst/>
            <a:ahLst/>
            <a:cxnLst/>
            <a:rect l="l" t="t" r="r" b="b"/>
            <a:pathLst>
              <a:path w="7469952" h="7469952">
                <a:moveTo>
                  <a:pt x="0" y="0"/>
                </a:moveTo>
                <a:lnTo>
                  <a:pt x="7469952" y="0"/>
                </a:lnTo>
                <a:lnTo>
                  <a:pt x="7469952" y="7469952"/>
                </a:lnTo>
                <a:lnTo>
                  <a:pt x="0" y="746995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924800" y="7581900"/>
            <a:ext cx="2393305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Modelo</a:t>
            </a:r>
            <a:endParaRPr lang="en-US" sz="2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Sequelize</a:t>
            </a: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+ </a:t>
            </a: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MySQL</a:t>
            </a:r>
            <a:r>
              <a:rPr lang="en-US" sz="2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01000" y="5448300"/>
            <a:ext cx="2310333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Controlador</a:t>
            </a:r>
            <a:endParaRPr lang="en-US" sz="2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Node.js+Express</a:t>
            </a:r>
            <a:endParaRPr lang="en-US" sz="20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24800" y="4000500"/>
            <a:ext cx="2437879" cy="718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Vista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EJS + Bootstrap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12078" y="3206513"/>
            <a:ext cx="11968554" cy="5191854"/>
            <a:chOff x="0" y="0"/>
            <a:chExt cx="3152212" cy="13674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52212" cy="1367402"/>
            </a:xfrm>
            <a:custGeom>
              <a:avLst/>
              <a:gdLst/>
              <a:ahLst/>
              <a:cxnLst/>
              <a:rect l="l" t="t" r="r" b="b"/>
              <a:pathLst>
                <a:path w="3152212" h="1367402">
                  <a:moveTo>
                    <a:pt x="64039" y="0"/>
                  </a:moveTo>
                  <a:lnTo>
                    <a:pt x="3088173" y="0"/>
                  </a:lnTo>
                  <a:cubicBezTo>
                    <a:pt x="3105157" y="0"/>
                    <a:pt x="3121446" y="6747"/>
                    <a:pt x="3133455" y="18756"/>
                  </a:cubicBezTo>
                  <a:cubicBezTo>
                    <a:pt x="3145465" y="30766"/>
                    <a:pt x="3152212" y="47055"/>
                    <a:pt x="3152212" y="64039"/>
                  </a:cubicBezTo>
                  <a:lnTo>
                    <a:pt x="3152212" y="1303363"/>
                  </a:lnTo>
                  <a:cubicBezTo>
                    <a:pt x="3152212" y="1338731"/>
                    <a:pt x="3123541" y="1367402"/>
                    <a:pt x="3088173" y="1367402"/>
                  </a:cubicBezTo>
                  <a:lnTo>
                    <a:pt x="64039" y="1367402"/>
                  </a:lnTo>
                  <a:cubicBezTo>
                    <a:pt x="47055" y="1367402"/>
                    <a:pt x="30766" y="1360655"/>
                    <a:pt x="18756" y="1348645"/>
                  </a:cubicBezTo>
                  <a:cubicBezTo>
                    <a:pt x="6747" y="1336636"/>
                    <a:pt x="0" y="1320347"/>
                    <a:pt x="0" y="1303363"/>
                  </a:cubicBezTo>
                  <a:lnTo>
                    <a:pt x="0" y="64039"/>
                  </a:lnTo>
                  <a:cubicBezTo>
                    <a:pt x="0" y="47055"/>
                    <a:pt x="6747" y="30766"/>
                    <a:pt x="18756" y="18756"/>
                  </a:cubicBezTo>
                  <a:cubicBezTo>
                    <a:pt x="30766" y="6747"/>
                    <a:pt x="47055" y="0"/>
                    <a:pt x="64039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52212" cy="1405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36442"/>
            <a:ext cx="8277112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Tecnologías Empleadas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961678" y="3379155"/>
            <a:ext cx="9532205" cy="5000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2100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Backend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Node.js + Express: Servidor y gestión de rutas.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Sequelize + MySQL: ORM y base de datos relacional.</a:t>
            </a:r>
          </a:p>
          <a:p>
            <a:pPr algn="l">
              <a:lnSpc>
                <a:spcPts val="5250"/>
              </a:lnSpc>
            </a:pPr>
            <a:r>
              <a:rPr lang="en-US" sz="2100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Bootstrap: Framework CSS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EJS: Motor de plantillas renderizadas en servidor.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HTML, CSS, JavaScript: Estructura e interacción en cliente</a:t>
            </a:r>
          </a:p>
          <a:p>
            <a:pPr algn="l">
              <a:lnSpc>
                <a:spcPts val="5250"/>
              </a:lnSpc>
            </a:pPr>
            <a:r>
              <a:rPr lang="en-US" sz="2100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Visualización de datos (BI)</a:t>
            </a:r>
          </a:p>
          <a:p>
            <a:pPr marL="453390" lvl="1" indent="-226695" algn="l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Looker/Data Studio: dashboards interactivos</a:t>
            </a:r>
          </a:p>
          <a:p>
            <a:pPr marL="0" lvl="0" indent="0" algn="ctr">
              <a:lnSpc>
                <a:spcPts val="2676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028700" y="8912717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5" y="0"/>
                </a:lnTo>
                <a:lnTo>
                  <a:pt x="580605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33217" y="8912717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5" y="0"/>
                </a:lnTo>
                <a:lnTo>
                  <a:pt x="580605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037733" y="8912717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6" y="0"/>
                </a:lnTo>
                <a:lnTo>
                  <a:pt x="580606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7549342" y="5899174"/>
            <a:ext cx="1363016" cy="2392212"/>
            <a:chOff x="0" y="0"/>
            <a:chExt cx="358984" cy="63004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52933" y="1945218"/>
            <a:ext cx="1363016" cy="2392212"/>
            <a:chOff x="0" y="0"/>
            <a:chExt cx="358984" cy="6300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53488" y="9258300"/>
            <a:ext cx="5081940" cy="2392212"/>
            <a:chOff x="0" y="0"/>
            <a:chExt cx="1338453" cy="630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13818"/>
            <a:ext cx="9927365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Funcionalidades principales</a:t>
            </a:r>
          </a:p>
          <a:p>
            <a:pPr marL="0" lvl="0" indent="0" algn="l">
              <a:lnSpc>
                <a:spcPts val="495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808877" y="2861147"/>
            <a:ext cx="13378281" cy="682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CRUD de muestras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Registro, consulta, edición y eliminación</a:t>
            </a:r>
          </a:p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Autenticación de usuarios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Protección de vistas y funcionalidades</a:t>
            </a:r>
          </a:p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Control de roles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Administrador / Técnico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Acceso y acciones según permisos</a:t>
            </a:r>
          </a:p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Sistema offline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Guardado en localStorage y sincronización automática/manual</a:t>
            </a:r>
          </a:p>
          <a:p>
            <a:pPr algn="just">
              <a:lnSpc>
                <a:spcPts val="3493"/>
              </a:lnSpc>
            </a:pPr>
            <a:endParaRPr/>
          </a:p>
          <a:p>
            <a:pPr marL="0" lvl="0" indent="0" algn="just">
              <a:lnSpc>
                <a:spcPts val="3493"/>
              </a:lnSpc>
              <a:spcBef>
                <a:spcPct val="0"/>
              </a:spcBef>
            </a:pPr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6246862" y="-2667310"/>
            <a:ext cx="1050538" cy="5314246"/>
            <a:chOff x="0" y="0"/>
            <a:chExt cx="358984" cy="18159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28612" y="1690562"/>
            <a:ext cx="485183" cy="660074"/>
          </a:xfrm>
          <a:custGeom>
            <a:avLst/>
            <a:gdLst/>
            <a:ahLst/>
            <a:cxnLst/>
            <a:rect l="l" t="t" r="r" b="b"/>
            <a:pathLst>
              <a:path w="485183" h="660074">
                <a:moveTo>
                  <a:pt x="0" y="0"/>
                </a:moveTo>
                <a:lnTo>
                  <a:pt x="485183" y="0"/>
                </a:lnTo>
                <a:lnTo>
                  <a:pt x="485183" y="660074"/>
                </a:lnTo>
                <a:lnTo>
                  <a:pt x="0" y="66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53488" y="9258300"/>
            <a:ext cx="5081940" cy="2392212"/>
            <a:chOff x="0" y="0"/>
            <a:chExt cx="1338453" cy="630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2013818"/>
            <a:ext cx="9927365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Funcionalidades secundarias</a:t>
            </a:r>
          </a:p>
          <a:p>
            <a:pPr marL="0" lvl="0" indent="0" algn="l">
              <a:lnSpc>
                <a:spcPts val="495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913849" y="3454682"/>
            <a:ext cx="13378281" cy="5515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Vista de navegación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Mapa con puntos de muestreo (Google Maps)</a:t>
            </a:r>
          </a:p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 interno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Comunicación en tiempo real mediante WebSockets</a:t>
            </a:r>
          </a:p>
          <a:p>
            <a:pPr algn="just">
              <a:lnSpc>
                <a:spcPts val="5190"/>
              </a:lnSpc>
            </a:pPr>
            <a:r>
              <a:rPr lang="en-US" sz="2495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Información adicional</a:t>
            </a:r>
          </a:p>
          <a:p>
            <a:pPr marL="538792" lvl="1" indent="-269396" algn="just">
              <a:lnSpc>
                <a:spcPts val="5190"/>
              </a:lnSpc>
              <a:buFont typeface="Arial"/>
              <a:buChar char="•"/>
            </a:pPr>
            <a:r>
              <a:rPr lang="en-US" sz="2495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Visualización gráfica de datos (Data Studio)</a:t>
            </a:r>
          </a:p>
          <a:p>
            <a:pPr algn="just">
              <a:lnSpc>
                <a:spcPts val="5190"/>
              </a:lnSpc>
            </a:pPr>
            <a:endParaRPr/>
          </a:p>
          <a:p>
            <a:pPr algn="just">
              <a:lnSpc>
                <a:spcPts val="3493"/>
              </a:lnSpc>
            </a:pPr>
            <a:endParaRPr/>
          </a:p>
          <a:p>
            <a:pPr marL="0" lvl="0" indent="0" algn="just">
              <a:lnSpc>
                <a:spcPts val="3493"/>
              </a:lnSpc>
              <a:spcBef>
                <a:spcPct val="0"/>
              </a:spcBef>
            </a:pPr>
            <a:endParaRPr/>
          </a:p>
        </p:txBody>
      </p:sp>
      <p:grpSp>
        <p:nvGrpSpPr>
          <p:cNvPr id="7" name="Group 7"/>
          <p:cNvGrpSpPr/>
          <p:nvPr/>
        </p:nvGrpSpPr>
        <p:grpSpPr>
          <a:xfrm>
            <a:off x="16246862" y="-2667310"/>
            <a:ext cx="1050538" cy="5314246"/>
            <a:chOff x="0" y="0"/>
            <a:chExt cx="358984" cy="181595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528612" y="1690562"/>
            <a:ext cx="485183" cy="660074"/>
          </a:xfrm>
          <a:custGeom>
            <a:avLst/>
            <a:gdLst/>
            <a:ahLst/>
            <a:cxnLst/>
            <a:rect l="l" t="t" r="r" b="b"/>
            <a:pathLst>
              <a:path w="485183" h="660074">
                <a:moveTo>
                  <a:pt x="0" y="0"/>
                </a:moveTo>
                <a:lnTo>
                  <a:pt x="485183" y="0"/>
                </a:lnTo>
                <a:lnTo>
                  <a:pt x="485183" y="660074"/>
                </a:lnTo>
                <a:lnTo>
                  <a:pt x="0" y="66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13818"/>
            <a:ext cx="1252540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Business Intelligence y Open Data</a:t>
            </a:r>
          </a:p>
          <a:p>
            <a:pPr marL="0" lvl="0" indent="0" algn="l">
              <a:lnSpc>
                <a:spcPts val="4950"/>
              </a:lnSpc>
            </a:pPr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1913849" y="3155720"/>
            <a:ext cx="13384540" cy="244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3"/>
              </a:lnSpc>
            </a:pPr>
            <a:r>
              <a:rPr lang="en-US" sz="2496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Looker/Data Studio</a:t>
            </a:r>
          </a:p>
          <a:p>
            <a:pPr marL="539045" lvl="1" indent="-269522" algn="l">
              <a:lnSpc>
                <a:spcPts val="5193"/>
              </a:lnSpc>
              <a:buFont typeface="Arial"/>
              <a:buChar char="•"/>
            </a:pPr>
            <a:r>
              <a:rPr lang="en-US" sz="2496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Dashboards interactivos de fácil edición.</a:t>
            </a:r>
          </a:p>
          <a:p>
            <a:pPr marL="539045" lvl="1" indent="-269522" algn="l">
              <a:lnSpc>
                <a:spcPts val="5193"/>
              </a:lnSpc>
              <a:buFont typeface="Arial"/>
              <a:buChar char="•"/>
            </a:pPr>
            <a:r>
              <a:rPr lang="en-US" sz="2496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Conectados a MySQL para monitorizar parámetros de muestras.</a:t>
            </a:r>
          </a:p>
          <a:p>
            <a:pPr marL="0" lvl="0" indent="0" algn="just">
              <a:lnSpc>
                <a:spcPts val="3495"/>
              </a:lnSpc>
              <a:spcBef>
                <a:spcPct val="0"/>
              </a:spcBef>
            </a:pPr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8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549342" y="5899174"/>
            <a:ext cx="1363016" cy="2392212"/>
            <a:chOff x="0" y="0"/>
            <a:chExt cx="358984" cy="6300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748890" y="5938702"/>
            <a:ext cx="1159358" cy="5864725"/>
            <a:chOff x="0" y="0"/>
            <a:chExt cx="358984" cy="181595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5400000">
            <a:off x="4248988" y="8506841"/>
            <a:ext cx="728448" cy="728448"/>
          </a:xfrm>
          <a:custGeom>
            <a:avLst/>
            <a:gdLst/>
            <a:ahLst/>
            <a:cxnLst/>
            <a:rect l="l" t="t" r="r" b="b"/>
            <a:pathLst>
              <a:path w="728448" h="728448">
                <a:moveTo>
                  <a:pt x="0" y="0"/>
                </a:moveTo>
                <a:lnTo>
                  <a:pt x="728449" y="0"/>
                </a:lnTo>
                <a:lnTo>
                  <a:pt x="728449" y="728448"/>
                </a:lnTo>
                <a:lnTo>
                  <a:pt x="0" y="72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913849" y="5619342"/>
            <a:ext cx="13384540" cy="244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93"/>
              </a:lnSpc>
            </a:pPr>
            <a:r>
              <a:rPr lang="en-US" sz="2496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Fuentes Open Data </a:t>
            </a:r>
          </a:p>
          <a:p>
            <a:pPr marL="539045" lvl="1" indent="-269523" algn="l">
              <a:lnSpc>
                <a:spcPts val="5193"/>
              </a:lnSpc>
              <a:buFont typeface="Arial"/>
              <a:buChar char="•"/>
            </a:pPr>
            <a:r>
              <a:rPr lang="en-US" sz="2496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API REST de Confederación Hidrográfica del Guadalquivir. CHG</a:t>
            </a:r>
          </a:p>
          <a:p>
            <a:pPr marL="539045" lvl="1" indent="-269523" algn="l">
              <a:lnSpc>
                <a:spcPts val="5193"/>
              </a:lnSpc>
              <a:buFont typeface="Arial"/>
              <a:buChar char="•"/>
            </a:pPr>
            <a:r>
              <a:rPr lang="en-US" sz="2496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API REST de Agencia Estatal de Meteorología. AEMET</a:t>
            </a:r>
          </a:p>
          <a:p>
            <a:pPr marL="0" lvl="0" indent="0" algn="just">
              <a:lnSpc>
                <a:spcPts val="3495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3569" y="9090894"/>
            <a:ext cx="5081940" cy="2392212"/>
            <a:chOff x="0" y="0"/>
            <a:chExt cx="1338453" cy="630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688609" y="3384512"/>
            <a:ext cx="4780716" cy="4992914"/>
          </a:xfrm>
          <a:custGeom>
            <a:avLst/>
            <a:gdLst/>
            <a:ahLst/>
            <a:cxnLst/>
            <a:rect l="l" t="t" r="r" b="b"/>
            <a:pathLst>
              <a:path w="4780716" h="4992914">
                <a:moveTo>
                  <a:pt x="0" y="0"/>
                </a:moveTo>
                <a:lnTo>
                  <a:pt x="4780715" y="0"/>
                </a:lnTo>
                <a:lnTo>
                  <a:pt x="4780715" y="4992914"/>
                </a:lnTo>
                <a:lnTo>
                  <a:pt x="0" y="499291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246862" y="-2667310"/>
            <a:ext cx="1050538" cy="5314246"/>
            <a:chOff x="0" y="0"/>
            <a:chExt cx="358984" cy="181595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2013818"/>
            <a:ext cx="1252540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Pruebas del Sistema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18287" y="9633727"/>
            <a:ext cx="1465962" cy="209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 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5063" y="3794733"/>
            <a:ext cx="9828287" cy="3610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11"/>
              </a:lnSpc>
            </a:pPr>
            <a:r>
              <a:rPr lang="en-US" sz="2438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Pruebas automatizadas </a:t>
            </a:r>
          </a:p>
          <a:p>
            <a:pPr marL="526559" lvl="1" indent="-263280" algn="l">
              <a:lnSpc>
                <a:spcPts val="5511"/>
              </a:lnSpc>
              <a:buFont typeface="Arial"/>
              <a:buChar char="•"/>
            </a:pPr>
            <a:r>
              <a:rPr lang="en-US" sz="243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Playwright. Test sobre flujos clave</a:t>
            </a:r>
          </a:p>
          <a:p>
            <a:pPr algn="l">
              <a:lnSpc>
                <a:spcPts val="3390"/>
              </a:lnSpc>
            </a:pPr>
            <a:endParaRPr/>
          </a:p>
          <a:p>
            <a:pPr algn="l">
              <a:lnSpc>
                <a:spcPts val="4536"/>
              </a:lnSpc>
            </a:pPr>
            <a:r>
              <a:rPr lang="en-US" sz="2438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Pruebas funcionales</a:t>
            </a:r>
          </a:p>
          <a:p>
            <a:pPr marL="526559" lvl="1" indent="-263280" algn="l">
              <a:lnSpc>
                <a:spcPts val="5511"/>
              </a:lnSpc>
              <a:buFont typeface="Arial"/>
              <a:buChar char="•"/>
            </a:pPr>
            <a:r>
              <a:rPr lang="en-US" sz="2438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Verificación manual de las funcionalidades</a:t>
            </a:r>
          </a:p>
          <a:p>
            <a:pPr marL="0" lvl="0" indent="0" algn="just">
              <a:lnSpc>
                <a:spcPts val="3895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3569" y="9090894"/>
            <a:ext cx="5081940" cy="2392212"/>
            <a:chOff x="0" y="0"/>
            <a:chExt cx="1338453" cy="630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246862" y="-2667310"/>
            <a:ext cx="1050538" cy="5314246"/>
            <a:chOff x="0" y="0"/>
            <a:chExt cx="358984" cy="18159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984" cy="1815954"/>
            </a:xfrm>
            <a:custGeom>
              <a:avLst/>
              <a:gdLst/>
              <a:ahLst/>
              <a:cxnLst/>
              <a:rect l="l" t="t" r="r" b="b"/>
              <a:pathLst>
                <a:path w="358984" h="1815954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636462"/>
                  </a:lnTo>
                  <a:cubicBezTo>
                    <a:pt x="358984" y="1735593"/>
                    <a:pt x="278623" y="1815954"/>
                    <a:pt x="179492" y="1815954"/>
                  </a:cubicBezTo>
                  <a:lnTo>
                    <a:pt x="179492" y="1815954"/>
                  </a:lnTo>
                  <a:cubicBezTo>
                    <a:pt x="80361" y="1815954"/>
                    <a:pt x="0" y="1735593"/>
                    <a:pt x="0" y="1636462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8984" cy="18540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>
            <a:hlinkClick r:id="rId2" tooltip="https://tfg-laboratorio-production.up.railway.app"/>
          </p:cNvPr>
          <p:cNvSpPr/>
          <p:nvPr/>
        </p:nvSpPr>
        <p:spPr>
          <a:xfrm>
            <a:off x="4634424" y="3695921"/>
            <a:ext cx="9019152" cy="2898425"/>
          </a:xfrm>
          <a:custGeom>
            <a:avLst/>
            <a:gdLst/>
            <a:ahLst/>
            <a:cxnLst/>
            <a:rect l="l" t="t" r="r" b="b"/>
            <a:pathLst>
              <a:path w="9019152" h="2898425">
                <a:moveTo>
                  <a:pt x="0" y="0"/>
                </a:moveTo>
                <a:lnTo>
                  <a:pt x="9019152" y="0"/>
                </a:lnTo>
                <a:lnTo>
                  <a:pt x="9019152" y="2898425"/>
                </a:lnTo>
                <a:lnTo>
                  <a:pt x="0" y="289842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2013818"/>
            <a:ext cx="12525409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Demostración de la aplicación</a:t>
            </a:r>
          </a:p>
          <a:p>
            <a:pPr marL="0" lvl="0" indent="0" algn="l">
              <a:lnSpc>
                <a:spcPts val="4950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218287" y="9633727"/>
            <a:ext cx="1465962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 dirty="0" err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</a:t>
            </a:r>
            <a:r>
              <a:rPr lang="en-US" sz="1500" b="1" i="1" dirty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1500" b="1" i="1" dirty="0" smtClean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10</a:t>
            </a:r>
            <a:endParaRPr lang="en-US" sz="1500" b="1" i="1" dirty="0">
              <a:solidFill>
                <a:srgbClr val="261CE6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51770" y="7461121"/>
            <a:ext cx="1378446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" tooltip="https://tfg-laboratorio-production.up.railway.app"/>
              </a:rPr>
              <a:t>https://tfg-laboratorio-production.up.railway.app/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13818"/>
            <a:ext cx="1252540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50"/>
              </a:lnSpc>
            </a:pPr>
            <a:r>
              <a:rPr lang="en-US" sz="5000" b="1">
                <a:solidFill>
                  <a:srgbClr val="261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Posibles mejoras futuras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18287" y="9633727"/>
            <a:ext cx="1465962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 dirty="0" err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</a:t>
            </a:r>
            <a:r>
              <a:rPr lang="en-US" sz="1500" b="1" i="1" dirty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1500" b="1" i="1" dirty="0" smtClean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11</a:t>
            </a:r>
            <a:endParaRPr lang="en-US" sz="1500" b="1" i="1" dirty="0">
              <a:solidFill>
                <a:srgbClr val="261CE6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7549342" y="5899174"/>
            <a:ext cx="1363016" cy="2392212"/>
            <a:chOff x="0" y="0"/>
            <a:chExt cx="358984" cy="630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8984" cy="630048"/>
            </a:xfrm>
            <a:custGeom>
              <a:avLst/>
              <a:gdLst/>
              <a:ahLst/>
              <a:cxnLst/>
              <a:rect l="l" t="t" r="r" b="b"/>
              <a:pathLst>
                <a:path w="358984" h="63004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450556"/>
                  </a:lnTo>
                  <a:cubicBezTo>
                    <a:pt x="358984" y="549686"/>
                    <a:pt x="278623" y="630048"/>
                    <a:pt x="179492" y="630048"/>
                  </a:cubicBezTo>
                  <a:lnTo>
                    <a:pt x="179492" y="630048"/>
                  </a:lnTo>
                  <a:cubicBezTo>
                    <a:pt x="80361" y="630048"/>
                    <a:pt x="0" y="549686"/>
                    <a:pt x="0" y="45055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58984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66800" y="8677695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5" y="0"/>
                </a:lnTo>
                <a:lnTo>
                  <a:pt x="580605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071317" y="8677695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5" y="0"/>
                </a:lnTo>
                <a:lnTo>
                  <a:pt x="580605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075833" y="8677695"/>
            <a:ext cx="580605" cy="580605"/>
          </a:xfrm>
          <a:custGeom>
            <a:avLst/>
            <a:gdLst/>
            <a:ahLst/>
            <a:cxnLst/>
            <a:rect l="l" t="t" r="r" b="b"/>
            <a:pathLst>
              <a:path w="580605" h="580605">
                <a:moveTo>
                  <a:pt x="0" y="0"/>
                </a:moveTo>
                <a:lnTo>
                  <a:pt x="580606" y="0"/>
                </a:lnTo>
                <a:lnTo>
                  <a:pt x="580606" y="580605"/>
                </a:lnTo>
                <a:lnTo>
                  <a:pt x="0" y="58060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361619" y="3305915"/>
            <a:ext cx="11192490" cy="3522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61"/>
              </a:lnSpc>
            </a:pPr>
            <a:endParaRPr/>
          </a:p>
          <a:p>
            <a:pPr marL="539749" lvl="1" indent="-269875" algn="l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Aplicación móvil nativa para trabajo en campo.</a:t>
            </a:r>
          </a:p>
          <a:p>
            <a:pPr marL="539749" lvl="1" indent="-269875" algn="l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Optimización de la carga y compresión de fotos.</a:t>
            </a:r>
          </a:p>
          <a:p>
            <a:pPr marL="539749" lvl="1" indent="-269875" algn="l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Persistencia del historial del chat interno. </a:t>
            </a:r>
          </a:p>
          <a:p>
            <a:pPr marL="539749" lvl="1" indent="-269875" algn="l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Exportación de datos (CSV / Excel).</a:t>
            </a:r>
          </a:p>
          <a:p>
            <a:pPr marL="539749" lvl="1" indent="-269875" algn="l">
              <a:lnSpc>
                <a:spcPts val="4924"/>
              </a:lnSpc>
              <a:buFont typeface="Arial"/>
              <a:buChar char="•"/>
            </a:pPr>
            <a:r>
              <a:rPr lang="en-US" sz="2499">
                <a:solidFill>
                  <a:srgbClr val="261CE6"/>
                </a:solidFill>
                <a:latin typeface="Canva Sans"/>
                <a:ea typeface="Canva Sans"/>
                <a:cs typeface="Canva Sans"/>
                <a:sym typeface="Canva Sans"/>
              </a:rPr>
              <a:t>Integración con nuevas fuentes de Open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32233" y="2829521"/>
            <a:ext cx="5623534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40"/>
              </a:lnSpc>
            </a:pPr>
            <a:r>
              <a:rPr lang="en-US" sz="6000" b="1">
                <a:solidFill>
                  <a:srgbClr val="261CE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90600"/>
            <a:ext cx="2665839" cy="32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58"/>
              </a:lnSpc>
              <a:spcBef>
                <a:spcPct val="0"/>
              </a:spcBef>
            </a:pPr>
            <a:r>
              <a:rPr lang="en-US" sz="189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Gestión de Muestras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218287" y="9633727"/>
            <a:ext cx="1465962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500"/>
              </a:lnSpc>
            </a:pPr>
            <a:r>
              <a:rPr lang="en-US" sz="1500" b="1" i="1" dirty="0" err="1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Página</a:t>
            </a:r>
            <a:r>
              <a:rPr lang="en-US" sz="1500" b="1" i="1" dirty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</a:t>
            </a:r>
            <a:r>
              <a:rPr lang="en-US" sz="1500" b="1" i="1" dirty="0" smtClean="0">
                <a:solidFill>
                  <a:srgbClr val="261CE6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12</a:t>
            </a:r>
            <a:endParaRPr lang="en-US" sz="1500" b="1" i="1" dirty="0">
              <a:solidFill>
                <a:srgbClr val="261CE6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24342" y="4247623"/>
            <a:ext cx="7833402" cy="4388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26"/>
              </a:lnSpc>
            </a:pPr>
            <a:endParaRPr/>
          </a:p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Sustitución del papel por un sistema digital</a:t>
            </a:r>
          </a:p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Datos centralizados y accesibles</a:t>
            </a:r>
          </a:p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Mayor fiabilidad en la recogida de muestras</a:t>
            </a:r>
          </a:p>
          <a:p>
            <a:pPr algn="l">
              <a:lnSpc>
                <a:spcPts val="6249"/>
              </a:lnSpc>
            </a:pPr>
            <a:r>
              <a:rPr lang="en-US" sz="2499" b="1">
                <a:solidFill>
                  <a:srgbClr val="261CE6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Aplicación orientada a uso real</a:t>
            </a:r>
          </a:p>
          <a:p>
            <a:pPr algn="l">
              <a:lnSpc>
                <a:spcPts val="4924"/>
              </a:lnSpc>
            </a:pPr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-334316" y="6570485"/>
            <a:ext cx="1363016" cy="4524008"/>
            <a:chOff x="0" y="0"/>
            <a:chExt cx="358984" cy="11915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8984" cy="1191508"/>
            </a:xfrm>
            <a:custGeom>
              <a:avLst/>
              <a:gdLst/>
              <a:ahLst/>
              <a:cxnLst/>
              <a:rect l="l" t="t" r="r" b="b"/>
              <a:pathLst>
                <a:path w="358984" h="119150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59300" y="3161943"/>
            <a:ext cx="1363016" cy="4524008"/>
            <a:chOff x="0" y="0"/>
            <a:chExt cx="358984" cy="11915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8984" cy="1191508"/>
            </a:xfrm>
            <a:custGeom>
              <a:avLst/>
              <a:gdLst/>
              <a:ahLst/>
              <a:cxnLst/>
              <a:rect l="l" t="t" r="r" b="b"/>
              <a:pathLst>
                <a:path w="358984" h="1191508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1012016"/>
                  </a:lnTo>
                  <a:cubicBezTo>
                    <a:pt x="358984" y="1111147"/>
                    <a:pt x="278623" y="1191508"/>
                    <a:pt x="179492" y="1191508"/>
                  </a:cubicBezTo>
                  <a:lnTo>
                    <a:pt x="179492" y="1191508"/>
                  </a:lnTo>
                  <a:cubicBezTo>
                    <a:pt x="80361" y="1191508"/>
                    <a:pt x="0" y="1111147"/>
                    <a:pt x="0" y="1012016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8984" cy="12296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087934" y="3077919"/>
            <a:ext cx="6358250" cy="229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40"/>
              </a:lnSpc>
            </a:pPr>
            <a:r>
              <a:rPr lang="en-US" sz="8000" b="1">
                <a:solidFill>
                  <a:srgbClr val="261CE6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Gracias por su atención</a:t>
            </a:r>
          </a:p>
        </p:txBody>
      </p:sp>
      <p:sp>
        <p:nvSpPr>
          <p:cNvPr id="3" name="Freeform 3"/>
          <p:cNvSpPr/>
          <p:nvPr/>
        </p:nvSpPr>
        <p:spPr>
          <a:xfrm>
            <a:off x="2073469" y="1936832"/>
            <a:ext cx="2960012" cy="4524995"/>
          </a:xfrm>
          <a:custGeom>
            <a:avLst/>
            <a:gdLst/>
            <a:ahLst/>
            <a:cxnLst/>
            <a:rect l="l" t="t" r="r" b="b"/>
            <a:pathLst>
              <a:path w="2960012" h="4524995">
                <a:moveTo>
                  <a:pt x="0" y="0"/>
                </a:moveTo>
                <a:lnTo>
                  <a:pt x="2960012" y="0"/>
                </a:lnTo>
                <a:lnTo>
                  <a:pt x="2960012" y="4524995"/>
                </a:lnTo>
                <a:lnTo>
                  <a:pt x="0" y="452499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16250613" y="4182110"/>
            <a:ext cx="889957" cy="6874127"/>
            <a:chOff x="0" y="0"/>
            <a:chExt cx="358984" cy="27728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58984" cy="2772832"/>
            </a:xfrm>
            <a:custGeom>
              <a:avLst/>
              <a:gdLst/>
              <a:ahLst/>
              <a:cxnLst/>
              <a:rect l="l" t="t" r="r" b="b"/>
              <a:pathLst>
                <a:path w="358984" h="2772832">
                  <a:moveTo>
                    <a:pt x="179492" y="0"/>
                  </a:moveTo>
                  <a:lnTo>
                    <a:pt x="179492" y="0"/>
                  </a:lnTo>
                  <a:cubicBezTo>
                    <a:pt x="278623" y="0"/>
                    <a:pt x="358984" y="80361"/>
                    <a:pt x="358984" y="179492"/>
                  </a:cubicBezTo>
                  <a:lnTo>
                    <a:pt x="358984" y="2593340"/>
                  </a:lnTo>
                  <a:cubicBezTo>
                    <a:pt x="358984" y="2692471"/>
                    <a:pt x="278623" y="2772832"/>
                    <a:pt x="179492" y="2772832"/>
                  </a:cubicBezTo>
                  <a:lnTo>
                    <a:pt x="179492" y="2772832"/>
                  </a:lnTo>
                  <a:cubicBezTo>
                    <a:pt x="80361" y="2772832"/>
                    <a:pt x="0" y="2692471"/>
                    <a:pt x="0" y="2593340"/>
                  </a:cubicBezTo>
                  <a:lnTo>
                    <a:pt x="0" y="179492"/>
                  </a:lnTo>
                  <a:cubicBezTo>
                    <a:pt x="0" y="80361"/>
                    <a:pt x="80361" y="0"/>
                    <a:pt x="179492" y="0"/>
                  </a:cubicBezTo>
                  <a:close/>
                </a:path>
              </a:pathLst>
            </a:custGeom>
            <a:ln w="47625" cap="rnd">
              <a:solidFill>
                <a:srgbClr val="261CE6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58984" cy="2810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400000">
            <a:off x="13476146" y="7339584"/>
            <a:ext cx="559178" cy="559178"/>
          </a:xfrm>
          <a:custGeom>
            <a:avLst/>
            <a:gdLst/>
            <a:ahLst/>
            <a:cxnLst/>
            <a:rect l="l" t="t" r="r" b="b"/>
            <a:pathLst>
              <a:path w="559178" h="559178">
                <a:moveTo>
                  <a:pt x="0" y="0"/>
                </a:moveTo>
                <a:lnTo>
                  <a:pt x="559178" y="0"/>
                </a:lnTo>
                <a:lnTo>
                  <a:pt x="559178" y="559178"/>
                </a:lnTo>
                <a:lnTo>
                  <a:pt x="0" y="559178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print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2177360" y="-1212699"/>
            <a:ext cx="5081940" cy="2392212"/>
            <a:chOff x="0" y="0"/>
            <a:chExt cx="1338453" cy="63004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19929" y="9090894"/>
            <a:ext cx="5081940" cy="2392212"/>
            <a:chOff x="0" y="0"/>
            <a:chExt cx="1338453" cy="63004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38453" cy="630048"/>
            </a:xfrm>
            <a:custGeom>
              <a:avLst/>
              <a:gdLst/>
              <a:ahLst/>
              <a:cxnLst/>
              <a:rect l="l" t="t" r="r" b="b"/>
              <a:pathLst>
                <a:path w="1338453" h="630048">
                  <a:moveTo>
                    <a:pt x="152342" y="0"/>
                  </a:moveTo>
                  <a:lnTo>
                    <a:pt x="1186112" y="0"/>
                  </a:lnTo>
                  <a:cubicBezTo>
                    <a:pt x="1226515" y="0"/>
                    <a:pt x="1265264" y="16050"/>
                    <a:pt x="1293834" y="44620"/>
                  </a:cubicBezTo>
                  <a:cubicBezTo>
                    <a:pt x="1322403" y="73190"/>
                    <a:pt x="1338453" y="111938"/>
                    <a:pt x="1338453" y="152342"/>
                  </a:cubicBezTo>
                  <a:lnTo>
                    <a:pt x="1338453" y="477706"/>
                  </a:lnTo>
                  <a:cubicBezTo>
                    <a:pt x="1338453" y="561842"/>
                    <a:pt x="1270248" y="630048"/>
                    <a:pt x="1186112" y="630048"/>
                  </a:cubicBezTo>
                  <a:lnTo>
                    <a:pt x="152342" y="630048"/>
                  </a:lnTo>
                  <a:cubicBezTo>
                    <a:pt x="111938" y="630048"/>
                    <a:pt x="73190" y="613997"/>
                    <a:pt x="44620" y="585428"/>
                  </a:cubicBezTo>
                  <a:cubicBezTo>
                    <a:pt x="16050" y="556858"/>
                    <a:pt x="0" y="518109"/>
                    <a:pt x="0" y="477706"/>
                  </a:cubicBezTo>
                  <a:lnTo>
                    <a:pt x="0" y="152342"/>
                  </a:lnTo>
                  <a:cubicBezTo>
                    <a:pt x="0" y="111938"/>
                    <a:pt x="16050" y="73190"/>
                    <a:pt x="44620" y="44620"/>
                  </a:cubicBezTo>
                  <a:cubicBezTo>
                    <a:pt x="73190" y="16050"/>
                    <a:pt x="111938" y="0"/>
                    <a:pt x="152342" y="0"/>
                  </a:cubicBezTo>
                  <a:close/>
                </a:path>
              </a:pathLst>
            </a:custGeom>
            <a:solidFill>
              <a:srgbClr val="261CE6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38453" cy="668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486</Words>
  <Application>Microsoft Office PowerPoint</Application>
  <PresentationFormat>Personalizado</PresentationFormat>
  <Paragraphs>106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2" baseType="lpstr">
      <vt:lpstr>Arial</vt:lpstr>
      <vt:lpstr>Calibri</vt:lpstr>
      <vt:lpstr>Montserrat Ultra-Bold</vt:lpstr>
      <vt:lpstr>Canva Sans</vt:lpstr>
      <vt:lpstr>Montserrat Bold Italics</vt:lpstr>
      <vt:lpstr>Montserrat Bold</vt:lpstr>
      <vt:lpstr>Canva Sans Bold</vt:lpstr>
      <vt:lpstr>Open Sans</vt:lpstr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Aplicación Web de Gestión de Muestras de Agua</dc:title>
  <cp:lastModifiedBy>Luna F</cp:lastModifiedBy>
  <cp:revision>3</cp:revision>
  <dcterms:created xsi:type="dcterms:W3CDTF">2006-08-16T00:00:00Z</dcterms:created>
  <dcterms:modified xsi:type="dcterms:W3CDTF">2026-05-18T09:20:02Z</dcterms:modified>
  <dc:identifier>DAHJrxoSZ1M</dc:identifier>
</cp:coreProperties>
</file>